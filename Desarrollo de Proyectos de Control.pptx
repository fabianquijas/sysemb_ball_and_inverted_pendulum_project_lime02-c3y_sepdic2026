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1273AF-F009-4B7E-836F-C10B86CC6B84}">
  <a:tblStyle styleId="{441273AF-F009-4B7E-836F-C10B86CC6B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5.xml"/><Relationship Id="rId22" Type="http://schemas.openxmlformats.org/officeDocument/2006/relationships/font" Target="fonts/Inter-boldItalic.fntdata"/><Relationship Id="rId10" Type="http://schemas.openxmlformats.org/officeDocument/2006/relationships/slide" Target="slides/slide4.xml"/><Relationship Id="rId21" Type="http://schemas.openxmlformats.org/officeDocument/2006/relationships/font" Target="fonts/Int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walking_on_a_rop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800" y="-567125"/>
            <a:ext cx="10945099" cy="75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09600" y="462528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194619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SISTEMAS </a:t>
            </a:r>
            <a:r>
              <a:rPr b="1" lang="en-US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EMBEBIDOS </a:t>
            </a: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Y ROBÓTICA AVANZADA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537519"/>
            <a:ext cx="910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 “Buscando el Equilibrio”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825180"/>
            <a:ext cx="676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Etapa 2 y Etapa 3: Arquitectura, Control en Tiempo Real y Validación Experimental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21526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248400" y="21526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29146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300" y="29146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9290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2719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1300" y="39290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1300" y="427196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Integrantes y Distribución de Proyectos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Asignación de responsables por proyecto y alcance de desarrollo.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448050"/>
            <a:ext cx="6100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Equipo 1: Péndulo Invertido Rotatorio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4686300"/>
            <a:ext cx="4743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Enfoque: Control LQR, Swing-up y lectura de encoder magnético en STM32F407.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91300" y="344805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Equipo 2: Ball Balancing Robot (BBR)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91300" y="4686300"/>
            <a:ext cx="4743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Enfoque: Procesamiento visual con Pixy2, cinemática inversa y PID dual.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3848100"/>
            <a:ext cx="581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Adán Alejandro Ramos Gudiño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4191000"/>
            <a:ext cx="581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Brayan Sinue Mata García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91300" y="3848100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Claudio Fabián Salas Quijas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91300" y="4191000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Rubén Darío Casales Ruiz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2247900"/>
            <a:ext cx="3505200" cy="3429000"/>
          </a:xfrm>
          <a:prstGeom prst="roundRect">
            <a:avLst>
              <a:gd fmla="val 3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343400" y="2247900"/>
            <a:ext cx="3505200" cy="3429000"/>
          </a:xfrm>
          <a:prstGeom prst="roundRect">
            <a:avLst>
              <a:gd fmla="val 3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077200" y="2247900"/>
            <a:ext cx="3505200" cy="3429000"/>
          </a:xfrm>
          <a:prstGeom prst="roundRect">
            <a:avLst>
              <a:gd fmla="val 3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5812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5812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258127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Introducción y Justificación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Problemática resuelta y relevancia de los sistemas cibernéticos avanzados.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302895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Sistemas Inestables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4400" y="3371850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 de plantas inherentemente no lineales e inestables en lazo cerrado.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48200" y="302895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Visión en Tiempo Real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48200" y="3371850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Procesamiento visual a alta velocidad con Pixy2 para estimación de trayectoria.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82000" y="302895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Aplicación Industrial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0" y="3371850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Validación práctica de algoritmos PID desacoplados y control óptimo LQR.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609600" y="21526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248400" y="21526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Proyecto 1: Péndulo Invertido Rotatorio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Basado en el diseño open-source de Henrique Ferrolho (Reemplazo accesible a Quanser QUBE).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2528292"/>
            <a:ext cx="6100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Especificaciones Técnicas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91300" y="2682478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Referencias del Proyecto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47750" y="293024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43000" y="2928342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Actuación: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Motor NEMA17 impulsado por driver silencioso TMC2209.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47750" y="3547288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43000" y="3545383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Sensado: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Encoder magnético angular de 12-bits AS5600 / Cuadratura.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47750" y="416433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143000" y="4162425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Estructura: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Piezas 3D personalizadas (URDF / STLs optimizados).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47750" y="478137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43000" y="4779466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Controlador: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Algoritmo de balanceo y swing-up en STM32F407-DISC1.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686550" y="3084433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781800" y="3082528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GitHub: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github.com/ferrolho/rotary-inverted-pendulum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86550" y="3701474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781800" y="3699569"/>
            <a:ext cx="5410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Video demostrativo: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YouTube (ID: rKChjuuR7K8)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86550" y="400999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781800" y="4008090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Sitio oficial: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ferrolho.github.io/rotary-inverted-pendulum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86550" y="4627036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781800" y="4625131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Costo de partes: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~£20 / $25 USD en componentes base.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609600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400425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191250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982075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26469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25" y="31575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326469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8775" y="3264693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Proceso de Control: Péndulo Invertido Rotatorio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Estrategia de doble etapa: Swing-up por energía y estabilización LQR.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76300" y="3674268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Control Swing-up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76300" y="3969543"/>
            <a:ext cx="21621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Inyección de energía basada en velocidad angular para llevar el péndulo de 0° a 180°.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667125" y="3567112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Modelado de Estados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667125" y="3862387"/>
            <a:ext cx="21621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Vector x = [θ, α, dθ/dt, dα/dt]ᵀ obtenido mediante ecuaciones de Euler-Lagrange.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457950" y="3674268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Control LQR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57950" y="3969543"/>
            <a:ext cx="21621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Conmutación a u = -Kx al alcanzar la vertical para mantener equilibrio estable.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248775" y="3674268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Ejecución STM32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48775" y="3969543"/>
            <a:ext cx="21621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Bucle de control a 1 kHz en STM32F407 con salidas de pulsos al driver TMC2209.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609600" y="21526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248400" y="21526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Proyecto 2: Ball Balancing Robot (BBR)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Basado en el diseño de Koshiro Robot Creator integrado con sensor visual Pixy2.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52500" y="2528292"/>
            <a:ext cx="6100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Hardware y Visión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591300" y="2682478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Referencias del Proyecto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047750" y="293024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143000" y="2928342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Mecanismo articulado 3D basado en modelo STEP (`BBRobot.step`).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47750" y="3547288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43000" y="3545383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Visión Dedicated: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Cámara Pixy2 CMUcam5 a 60 FPS con tracking por color.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47750" y="416433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43000" y="4162425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Cinemática: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Brazo cinemático directo/inverso articulado mediante servos.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047750" y="4781371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143000" y="4779466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Lazos PID desacoplados para posición y velocidad de la bola.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686550" y="3084433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781800" y="3082528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GitHub: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github.com/KoshiroRobot/Ball-Balancing-Robot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686550" y="3701474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781800" y="3699569"/>
            <a:ext cx="5410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Video de referencia: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YouTube (ID: KnYSuQEBGHc)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686550" y="400999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781800" y="4008090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Planos Mecánicos: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Archivos CAD 3D (`arm2.pdf`, `Parts_Details`).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86550" y="4627036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781800" y="4625131"/>
            <a:ext cx="4552950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Bus SPI / I2C / UART directo entre Pixy2 y STM32F407.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609600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400425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191250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982075" y="2114550"/>
            <a:ext cx="2600325" cy="361950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1575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25" y="326469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3157537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8775" y="326469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Proceso de Control: Ball Balancing Robot (BBR)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Lazo cerrado visual desacoplado en dos ejes perpendiculares.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76300" y="3567112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Tracking Pixy2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76300" y="3862387"/>
            <a:ext cx="21621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Procesamiento de blobs de color a 60 Hz. Envío de coordenadas (x, y) por SPI al STM32.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3667125" y="3674268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Mapeo y Error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3667125" y="3969543"/>
            <a:ext cx="21621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Conversión de pixeles a cm. Cálculo del error e_x = x_ref - x, e_y = y_ref - y en el plano.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457950" y="3567112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Control PID Dual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457950" y="3862387"/>
            <a:ext cx="21621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Algoritmos PID independientes para ejes X e Y calculan ángulos deseados (α, β).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248775" y="3674268"/>
            <a:ext cx="27128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Cinemática Inversa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248775" y="3969543"/>
            <a:ext cx="21621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Transformación de inclinación a ángulos de servomotores mediante señales PWM.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0" title="stm2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37150" y="-252000"/>
            <a:ext cx="11754850" cy="9097725"/>
          </a:xfrm>
          <a:prstGeom prst="rect">
            <a:avLst/>
          </a:prstGeom>
          <a:noFill/>
          <a:ln>
            <a:noFill/>
          </a:ln>
          <a:effectLst>
            <a:outerShdw blurRad="485775" rotWithShape="0" algn="bl" dir="6540000" dist="19050">
              <a:srgbClr val="000000">
                <a:alpha val="63000"/>
              </a:srgbClr>
            </a:outerShdw>
          </a:effectLst>
        </p:spPr>
      </p:pic>
      <p:sp>
        <p:nvSpPr>
          <p:cNvPr id="230" name="Google Shape;230;p20"/>
          <p:cNvSpPr/>
          <p:nvPr/>
        </p:nvSpPr>
        <p:spPr>
          <a:xfrm>
            <a:off x="437150" y="458375"/>
            <a:ext cx="7762200" cy="915300"/>
          </a:xfrm>
          <a:prstGeom prst="roundRect">
            <a:avLst>
              <a:gd fmla="val 343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09600" y="2114550"/>
            <a:ext cx="3326606" cy="3619500"/>
          </a:xfrm>
          <a:prstGeom prst="roundRect">
            <a:avLst>
              <a:gd fmla="val 343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126706" y="2114550"/>
            <a:ext cx="3938587" cy="3619500"/>
          </a:xfrm>
          <a:prstGeom prst="roundRect">
            <a:avLst>
              <a:gd fmla="val 3157" name="adj"/>
            </a:avLst>
          </a:prstGeom>
          <a:solidFill>
            <a:srgbClr val="EFF6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255793" y="2114550"/>
            <a:ext cx="3326606" cy="3619500"/>
          </a:xfrm>
          <a:prstGeom prst="roundRect">
            <a:avLst>
              <a:gd fmla="val 343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8908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4356" y="28765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4393" y="28908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Diagrama de Bloques Técnico (STM32F407-DISC1)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Interconexión centralizada de sensores, actuadores y el procesador ARM Cortex-M4.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38200" y="3300412"/>
            <a:ext cx="37660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Sensores / Entradas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4374356" y="3286125"/>
            <a:ext cx="45193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Procesamiento: STM32F407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484393" y="3300412"/>
            <a:ext cx="37076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Actuadores / Salidas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933450" y="36147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009650" y="3614737"/>
            <a:ext cx="27932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Encoder AS5600: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Interfaz I2C/PWM para ángulo del péndulo.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33450" y="40719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1009650" y="4071937"/>
            <a:ext cx="27932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Cámara Pixy2: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Bus SPI a 60 FPS para tracking de la bola en BBR.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33450" y="45291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009650" y="4529137"/>
            <a:ext cx="27932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Entrada Referencia: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Comandos por UART / USB OTG.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469606" y="362902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4545806" y="3629025"/>
            <a:ext cx="336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FPU Hardware: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Cálculo matricial acelerado para LQR.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4469606" y="408622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4545806" y="4086225"/>
            <a:ext cx="336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Timers Avanzados: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Generación de PWM y lectura quadrature.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4469606" y="454342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4545806" y="4543425"/>
            <a:ext cx="336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Lazo de Control: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Ejecución determinista a 1 kHz.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579643" y="36147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655843" y="3614737"/>
            <a:ext cx="27932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Driver TMC2209: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Pulsos STEP/DIR para motor NEMA17.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8579643" y="40719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8655843" y="4071937"/>
            <a:ext cx="27932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Servomotores PWM: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Control de inclinación en 2 ejes para BBR.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579643" y="45291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655843" y="4529137"/>
            <a:ext cx="27932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Telemetría: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Monitoreo de variables de estado vía USART.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609600" y="2500312"/>
            <a:ext cx="10972800" cy="847725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609600" y="3500437"/>
            <a:ext cx="10972800" cy="847725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09600" y="4500562"/>
            <a:ext cx="10972800" cy="847725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Cronograma de Gantt: Etapas 2 y 3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Planificación temporal estructurada con fechas límite estrictas.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38200" y="2967037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Impresión 3D de estructuras, configuración de entorno STM32CubeIDE e integración inicial Pixy2.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838200" y="3967162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Ajuste de ganancias LQR/PID, pruebas de swing-up en péndulo y balanceo 2D de la bola en BBR.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38200" y="4967287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Demostración funcional en vivo en 10 minutos estrictos.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38200" y="2690812"/>
            <a:ext cx="5000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Etapa 2: Diseño, Adquisición y Prototipado Base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0334625" y="2690812"/>
            <a:ext cx="1304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Semanas 1 - 4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38200" y="3690937"/>
            <a:ext cx="4798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Etapa 3: Implementación de Control y Pruebas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0315575" y="3690937"/>
            <a:ext cx="1323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Semanas 5 - 8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38200" y="4691062"/>
            <a:ext cx="4976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Hito Final: Exposición y Validación Experimental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0639425" y="4691062"/>
            <a:ext cx="100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Semana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/>
          <p:nvPr/>
        </p:nvSpPr>
        <p:spPr>
          <a:xfrm>
            <a:off x="609600" y="2833687"/>
            <a:ext cx="466338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272980" y="2833687"/>
            <a:ext cx="219447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7467451" y="2833687"/>
            <a:ext cx="134406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8811517" y="2833687"/>
            <a:ext cx="277088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609600" y="3276600"/>
            <a:ext cx="4663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272980" y="3276600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7467451" y="3276600"/>
            <a:ext cx="1344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8811517" y="3276600"/>
            <a:ext cx="2770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609600" y="3705225"/>
            <a:ext cx="4663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272980" y="3705225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7467451" y="3705225"/>
            <a:ext cx="1344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8811517" y="3705225"/>
            <a:ext cx="2770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09600" y="4133850"/>
            <a:ext cx="4663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5272980" y="4133850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7467451" y="4133850"/>
            <a:ext cx="1344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8811517" y="4133850"/>
            <a:ext cx="2770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609600" y="4562475"/>
            <a:ext cx="4663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5272980" y="4562475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467451" y="4562475"/>
            <a:ext cx="1344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8811517" y="4562475"/>
            <a:ext cx="2770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609600" y="4991100"/>
            <a:ext cx="4663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5272980" y="4991100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7467451" y="4991100"/>
            <a:ext cx="13440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8811517" y="4991100"/>
            <a:ext cx="2770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22"/>
          <p:cNvGraphicFramePr/>
          <p:nvPr/>
        </p:nvGraphicFramePr>
        <p:xfrm>
          <a:off x="609600" y="2386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{441273AF-F009-4B7E-836F-C10B86CC6B84}</a:tableStyleId>
              </a:tblPr>
              <a:tblGrid>
                <a:gridCol w="4663375"/>
                <a:gridCol w="2194475"/>
                <a:gridCol w="1344075"/>
                <a:gridCol w="2770875"/>
              </a:tblGrid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Cantidad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Costo Estimado (USD)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Tarjeta STM32F407-DISC1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 Común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$28.00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Motor NEMA17 + Driver TMC2209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Péndulo Invertido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kit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$18.00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Encoder Magnético AS5600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Péndulo Invertido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Cámara Pixy2 CMUcam5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BBR Robot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$55.00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Servomotores de Torque + Estructura 3D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BBR Robot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kit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$22.00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ESTIMADO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$127.50 USD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" name="Google Shape;307;p22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Presupuesto Estimado y Viabilidad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Análisis de costos y optimización de recursos hardware.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/>
          <p:nvPr/>
        </p:nvSpPr>
        <p:spPr>
          <a:xfrm>
            <a:off x="609600" y="2247900"/>
            <a:ext cx="3505200" cy="3429000"/>
          </a:xfrm>
          <a:prstGeom prst="roundRect">
            <a:avLst>
              <a:gd fmla="val 3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4343400" y="2247900"/>
            <a:ext cx="3505200" cy="3429000"/>
          </a:xfrm>
          <a:prstGeom prst="roundRect">
            <a:avLst>
              <a:gd fmla="val 3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8077200" y="2247900"/>
            <a:ext cx="3505200" cy="3429000"/>
          </a:xfrm>
          <a:prstGeom prst="roundRect">
            <a:avLst>
              <a:gd fmla="val 3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5812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581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258127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Avances Actuales y Evidencias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Estado real del proyecto al inicio de la exposición.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914400" y="302895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Compras Realizadas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914400" y="3371850"/>
            <a:ext cx="2990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Disponibilidad de tarjeta STM32F407-DISC1, cámara Pixy2, drivers TMC2209 y motores.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4648200" y="302895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Código Base Inicial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4648200" y="3371850"/>
            <a:ext cx="2990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Lectura de encoder AS5600 vía I2C y recepción de coordenadas SPI de Pixy2 validadas.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8382000" y="302895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Estructura Mecánica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8382000" y="3371850"/>
            <a:ext cx="2990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Piezas impresas en 3D para el péndulo y ensamble preliminar del mecanismo BBR.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"/>
          <p:cNvSpPr txBox="1"/>
          <p:nvPr/>
        </p:nvSpPr>
        <p:spPr>
          <a:xfrm>
            <a:off x="3533179" y="2776537"/>
            <a:ext cx="51256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¡Muchas Gracias!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3863578" y="3529012"/>
            <a:ext cx="44648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Preguntas y Respuestas (3 minutos)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